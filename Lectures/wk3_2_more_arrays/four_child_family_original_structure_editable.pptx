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69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3B7F55A4-2D72-D942-93F4-CD3F33E1D77F}"/>
              </a:ext>
            </a:extLst>
          </p:cNvPr>
          <p:cNvSpPr/>
          <p:nvPr/>
        </p:nvSpPr>
        <p:spPr>
          <a:xfrm>
            <a:off x="3200400" y="5233035"/>
            <a:ext cx="960120" cy="685800"/>
          </a:xfrm>
          <a:prstGeom prst="rect">
            <a:avLst/>
          </a:prstGeom>
          <a:solidFill>
            <a:srgbClr val="EDF6FA"/>
          </a:solidFill>
          <a:ln w="20320"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115568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700" b="1">
                <a:solidFill>
                  <a:srgbClr val="1C2D44"/>
                </a:solidFill>
                <a:latin typeface="Aptos"/>
              </a:defRPr>
            </a:pPr>
            <a:r>
              <a:rPr dirty="0" err="1"/>
              <a:t>Simulat</a:t>
            </a:r>
            <a:r>
              <a:rPr lang="en-GB" dirty="0"/>
              <a:t>ion of</a:t>
            </a:r>
            <a:r>
              <a:rPr dirty="0"/>
              <a:t>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847088" cy="46634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400" b="1">
                <a:solidFill>
                  <a:srgbClr val="1C2D44"/>
                </a:solidFill>
                <a:latin typeface="Aptos"/>
              </a:defRPr>
            </a:pPr>
            <a:r>
              <a:t>percentage 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133856"/>
            <a:ext cx="3246120" cy="502920"/>
          </a:xfrm>
          <a:prstGeom prst="roundRect">
            <a:avLst/>
          </a:prstGeom>
          <a:solidFill>
            <a:srgbClr val="EDF6FA"/>
          </a:solidFill>
          <a:ln w="1778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44368" y="1179576"/>
            <a:ext cx="2999232" cy="38404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100" b="1">
                <a:solidFill>
                  <a:srgbClr val="2C69B0"/>
                </a:solidFill>
                <a:latin typeface="Aptos Mono"/>
              </a:defRPr>
            </a:pPr>
            <a:r>
              <a:t>count / N  × 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1697" y="3269224"/>
            <a:ext cx="452628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700" b="0">
                <a:solidFill>
                  <a:srgbClr val="4E6376"/>
                </a:solidFill>
                <a:latin typeface="Aptos"/>
              </a:defRPr>
            </a:pPr>
            <a:r>
              <a:rPr sz="1600" dirty="0"/>
              <a:t>N = </a:t>
            </a:r>
            <a:r>
              <a:rPr lang="en-GB" sz="1600" dirty="0"/>
              <a:t>5 </a:t>
            </a:r>
            <a:r>
              <a:rPr sz="1600" dirty="0"/>
              <a:t>number of simulated families</a:t>
            </a: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 flipV="1">
            <a:off x="3219450" y="1767355"/>
            <a:ext cx="0" cy="491213"/>
          </a:xfrm>
          <a:prstGeom prst="line">
            <a:avLst/>
          </a:prstGeom>
          <a:ln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51585" y="2300963"/>
            <a:ext cx="4930140" cy="37241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300" b="1">
                <a:solidFill>
                  <a:srgbClr val="2C69B0"/>
                </a:solidFill>
                <a:latin typeface="Aptos Mono"/>
              </a:defRPr>
            </a:pPr>
            <a:r>
              <a:rPr lang="en-GB" dirty="0"/>
              <a:t>count = </a:t>
            </a:r>
            <a:r>
              <a:rPr dirty="0" err="1"/>
              <a:t>np.sum</a:t>
            </a:r>
            <a:r>
              <a:rPr dirty="0"/>
              <a:t>(</a:t>
            </a:r>
            <a:r>
              <a:rPr lang="en-GB" dirty="0"/>
              <a:t>n</a:t>
            </a:r>
            <a:r>
              <a:rPr dirty="0"/>
              <a:t>_boys == 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2453" y="2258568"/>
            <a:ext cx="5431536" cy="521207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000" b="1">
                <a:solidFill>
                  <a:srgbClr val="1C2D44"/>
                </a:solidFill>
                <a:latin typeface="Aptos"/>
              </a:defRPr>
            </a:pPr>
            <a:r>
              <a:rPr dirty="0"/>
              <a:t>How many families have exactly 3 boys?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491356"/>
            <a:ext cx="1353312" cy="34163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100" b="1">
                <a:solidFill>
                  <a:srgbClr val="1C2D44"/>
                </a:solidFill>
                <a:latin typeface="Aptos Mono"/>
              </a:defRPr>
            </a:pPr>
            <a:r>
              <a:rPr lang="en-GB" dirty="0"/>
              <a:t>n</a:t>
            </a:r>
            <a:r>
              <a:rPr dirty="0"/>
              <a:t>_boys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3401568"/>
            <a:ext cx="960120" cy="667512"/>
          </a:xfrm>
          <a:prstGeom prst="rect">
            <a:avLst/>
          </a:prstGeom>
          <a:solidFill>
            <a:srgbClr val="E1F6F2"/>
          </a:solidFill>
          <a:ln w="21590">
            <a:solidFill>
              <a:srgbClr val="007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0280" y="3465576"/>
            <a:ext cx="960120" cy="53035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2700" b="1">
                <a:solidFill>
                  <a:srgbClr val="007C7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401568"/>
            <a:ext cx="960120" cy="667512"/>
          </a:xfrm>
          <a:prstGeom prst="rect">
            <a:avLst/>
          </a:prstGeom>
          <a:solidFill>
            <a:srgbClr val="FFFFFF"/>
          </a:solidFill>
          <a:ln w="21590">
            <a:solidFill>
              <a:srgbClr val="AE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60520" y="3401568"/>
            <a:ext cx="960120" cy="667512"/>
          </a:xfrm>
          <a:prstGeom prst="rect">
            <a:avLst/>
          </a:prstGeom>
          <a:solidFill>
            <a:srgbClr val="FFFFFF"/>
          </a:solidFill>
          <a:ln w="21590">
            <a:solidFill>
              <a:srgbClr val="AE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81697" y="3715715"/>
            <a:ext cx="4800600" cy="264688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500" b="0">
                <a:solidFill>
                  <a:srgbClr val="4E6376"/>
                </a:solidFill>
                <a:latin typeface="Aptos"/>
              </a:defRPr>
            </a:pPr>
            <a:r>
              <a:rPr sz="1600" dirty="0"/>
              <a:t>One cell = number of boys in one family</a:t>
            </a:r>
          </a:p>
        </p:txBody>
      </p:sp>
      <p:cxnSp>
        <p:nvCxnSpPr>
          <p:cNvPr id="26" name="Connector 25"/>
          <p:cNvCxnSpPr>
            <a:cxnSpLocks/>
            <a:stCxn id="29" idx="0"/>
            <a:endCxn id="16" idx="2"/>
          </p:cNvCxnSpPr>
          <p:nvPr/>
        </p:nvCxnSpPr>
        <p:spPr>
          <a:xfrm flipV="1">
            <a:off x="2720340" y="4069080"/>
            <a:ext cx="0" cy="1159383"/>
          </a:xfrm>
          <a:prstGeom prst="line">
            <a:avLst/>
          </a:prstGeom>
          <a:ln w="31750">
            <a:solidFill>
              <a:srgbClr val="2C69B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44368" y="4340955"/>
            <a:ext cx="3520440" cy="249299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500" b="0">
                <a:solidFill>
                  <a:srgbClr val="2C69B0"/>
                </a:solidFill>
                <a:latin typeface="Aptos"/>
              </a:defRPr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Sum boys within each family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5292471"/>
            <a:ext cx="1408176" cy="40233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2100" b="1">
                <a:solidFill>
                  <a:srgbClr val="1C2D44"/>
                </a:solidFill>
                <a:latin typeface="Aptos Mono"/>
              </a:defRPr>
            </a:pPr>
            <a:r>
              <a:t>family1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80" y="5228463"/>
            <a:ext cx="960120" cy="685800"/>
          </a:xfrm>
          <a:prstGeom prst="rect">
            <a:avLst/>
          </a:prstGeom>
          <a:solidFill>
            <a:srgbClr val="EDF6FA"/>
          </a:solidFill>
          <a:ln w="20320"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240280" y="5301615"/>
            <a:ext cx="9601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2600" b="1">
                <a:solidFill>
                  <a:srgbClr val="2C69B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39215"/>
            <a:ext cx="960120" cy="4185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2600" b="1">
                <a:solidFill>
                  <a:srgbClr val="4E6376"/>
                </a:solidFill>
                <a:latin typeface="Aptos"/>
              </a:defRPr>
            </a:pPr>
            <a:r>
              <a:rPr lang="en-GB" dirty="0">
                <a:solidFill>
                  <a:srgbClr val="2C69B0"/>
                </a:solidFill>
              </a:rPr>
              <a:t>0</a:t>
            </a:r>
            <a:endParaRPr dirty="0">
              <a:solidFill>
                <a:srgbClr val="2C69B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160520" y="5228463"/>
            <a:ext cx="960120" cy="685800"/>
          </a:xfrm>
          <a:prstGeom prst="rect">
            <a:avLst/>
          </a:prstGeom>
          <a:solidFill>
            <a:srgbClr val="EDF6FA"/>
          </a:solidFill>
          <a:ln w="20320"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60520" y="5301615"/>
            <a:ext cx="9601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2600" b="1">
                <a:solidFill>
                  <a:srgbClr val="2C69B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5228463"/>
            <a:ext cx="960120" cy="685800"/>
          </a:xfrm>
          <a:prstGeom prst="rect">
            <a:avLst/>
          </a:prstGeom>
          <a:solidFill>
            <a:srgbClr val="EDF6FA"/>
          </a:solidFill>
          <a:ln w="20320">
            <a:solidFill>
              <a:srgbClr val="2C6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20640" y="5301615"/>
            <a:ext cx="960120" cy="493776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ctr">
              <a:defRPr sz="2600" b="1">
                <a:solidFill>
                  <a:srgbClr val="2C69B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5349240"/>
            <a:ext cx="4946904" cy="502920"/>
          </a:xfrm>
          <a:prstGeom prst="roundRect">
            <a:avLst/>
          </a:prstGeom>
          <a:solidFill>
            <a:srgbClr val="EDF6FA"/>
          </a:solidFill>
          <a:ln w="17780">
            <a:solidFill>
              <a:srgbClr val="ED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19672" y="5385816"/>
            <a:ext cx="4681728" cy="374904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700" b="1">
                <a:solidFill>
                  <a:srgbClr val="2C69B0"/>
                </a:solidFill>
                <a:latin typeface="Aptos Mono"/>
              </a:defRPr>
            </a:pPr>
            <a:r>
              <a:rPr dirty="0" err="1"/>
              <a:t>np.random.randint</a:t>
            </a:r>
            <a:r>
              <a:rPr dirty="0"/>
              <a:t>(0, 2, size=4)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4996398"/>
            <a:ext cx="4855464" cy="480131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>
              <a:defRPr sz="1500" b="0">
                <a:solidFill>
                  <a:srgbClr val="4E6376"/>
                </a:solidFill>
                <a:latin typeface="Aptos"/>
              </a:defRPr>
            </a:pPr>
            <a:r>
              <a:rPr dirty="0"/>
              <a:t>Generate one family of four children</a:t>
            </a:r>
            <a:r>
              <a:rPr lang="en-GB" dirty="0"/>
              <a:t>, 1 = boy, 0 = girl</a:t>
            </a:r>
          </a:p>
          <a:p>
            <a:pPr algn="l">
              <a:defRPr sz="1500" b="0">
                <a:solidFill>
                  <a:srgbClr val="4E6376"/>
                </a:solidFill>
                <a:latin typeface="Aptos"/>
              </a:defRPr>
            </a:pPr>
            <a:endParaRPr dirty="0"/>
          </a:p>
        </p:txBody>
      </p:sp>
      <p:sp>
        <p:nvSpPr>
          <p:cNvPr id="40" name="TextBox 39"/>
          <p:cNvSpPr txBox="1"/>
          <p:nvPr/>
        </p:nvSpPr>
        <p:spPr>
          <a:xfrm>
            <a:off x="2944368" y="4610237"/>
            <a:ext cx="3931920" cy="326243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defRPr sz="1800" b="1">
                <a:solidFill>
                  <a:srgbClr val="007C77"/>
                </a:solidFill>
                <a:latin typeface="Aptos Mono"/>
              </a:defRPr>
            </a:pPr>
            <a:r>
              <a:rPr sz="2000" dirty="0" err="1">
                <a:solidFill>
                  <a:srgbClr val="2C69B0"/>
                </a:solidFill>
              </a:rPr>
              <a:t>np.sum</a:t>
            </a:r>
            <a:r>
              <a:rPr sz="2000" dirty="0">
                <a:solidFill>
                  <a:srgbClr val="2C69B0"/>
                </a:solidFill>
              </a:rPr>
              <a:t>(family1 == 1</a:t>
            </a:r>
            <a:r>
              <a:rPr lang="en-GB" sz="2000" dirty="0">
                <a:solidFill>
                  <a:srgbClr val="2C69B0"/>
                </a:solidFill>
              </a:rPr>
              <a:t>)</a:t>
            </a:r>
            <a:endParaRPr sz="2000" dirty="0">
              <a:solidFill>
                <a:srgbClr val="2C69B0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DA28E49-776F-EF55-B96A-30DB5504058E}"/>
              </a:ext>
            </a:extLst>
          </p:cNvPr>
          <p:cNvSpPr/>
          <p:nvPr/>
        </p:nvSpPr>
        <p:spPr>
          <a:xfrm>
            <a:off x="5120640" y="3401568"/>
            <a:ext cx="960120" cy="667512"/>
          </a:xfrm>
          <a:prstGeom prst="rect">
            <a:avLst/>
          </a:prstGeom>
          <a:solidFill>
            <a:srgbClr val="FFFFFF"/>
          </a:solidFill>
          <a:ln w="21590">
            <a:solidFill>
              <a:srgbClr val="AE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Left Brace 46">
            <a:extLst>
              <a:ext uri="{FF2B5EF4-FFF2-40B4-BE49-F238E27FC236}">
                <a16:creationId xmlns:a16="http://schemas.microsoft.com/office/drawing/2014/main" id="{F721D365-8CA7-BD21-79D4-FC0E15CD5260}"/>
              </a:ext>
            </a:extLst>
          </p:cNvPr>
          <p:cNvSpPr/>
          <p:nvPr/>
        </p:nvSpPr>
        <p:spPr>
          <a:xfrm rot="5400000">
            <a:off x="4490640" y="1100915"/>
            <a:ext cx="196628" cy="416699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A51E100-3AE1-074B-96A6-C910624A11B4}"/>
              </a:ext>
            </a:extLst>
          </p:cNvPr>
          <p:cNvSpPr/>
          <p:nvPr/>
        </p:nvSpPr>
        <p:spPr>
          <a:xfrm>
            <a:off x="6080760" y="3401568"/>
            <a:ext cx="960120" cy="667512"/>
          </a:xfrm>
          <a:prstGeom prst="rect">
            <a:avLst/>
          </a:prstGeom>
          <a:solidFill>
            <a:srgbClr val="FFFFFF"/>
          </a:solidFill>
          <a:ln w="21590">
            <a:solidFill>
              <a:srgbClr val="AE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98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Zuo Zhang (Psychology)</cp:lastModifiedBy>
  <cp:revision>25</cp:revision>
  <dcterms:created xsi:type="dcterms:W3CDTF">2013-01-27T09:14:16Z</dcterms:created>
  <dcterms:modified xsi:type="dcterms:W3CDTF">2026-10-16T11:05:53Z</dcterms:modified>
  <cp:category/>
</cp:coreProperties>
</file>